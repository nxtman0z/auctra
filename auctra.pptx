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7" r:id="rId9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3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xtman0z/AUCTRA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hyperlink" Target="https://auctra-two.vercel.app/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EB8AEA-EA83-5F9F-85AC-57C1E7A944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21108" y="563849"/>
            <a:ext cx="1015730" cy="1600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19DCEE8-84A0-B2D1-E55C-C79EFABFDB29}"/>
              </a:ext>
            </a:extLst>
          </p:cNvPr>
          <p:cNvSpPr txBox="1"/>
          <p:nvPr/>
        </p:nvSpPr>
        <p:spPr>
          <a:xfrm>
            <a:off x="4648200" y="1019770"/>
            <a:ext cx="9906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Decentralized Auction Platform</a:t>
            </a:r>
            <a:endParaRPr lang="en-IN" sz="5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BA4C73-952B-F062-2A90-923CF40DCAEA}"/>
              </a:ext>
            </a:extLst>
          </p:cNvPr>
          <p:cNvSpPr txBox="1"/>
          <p:nvPr/>
        </p:nvSpPr>
        <p:spPr>
          <a:xfrm>
            <a:off x="6172200" y="1963994"/>
            <a:ext cx="6705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i="1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 Transparent, Automated, and Secure Bidding Ecosystem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C92700-CDA3-E288-0B53-E8C8744C9A7B}"/>
              </a:ext>
            </a:extLst>
          </p:cNvPr>
          <p:cNvSpPr txBox="1"/>
          <p:nvPr/>
        </p:nvSpPr>
        <p:spPr>
          <a:xfrm>
            <a:off x="457200" y="4302965"/>
            <a:ext cx="1112520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Name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  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TriChain</a:t>
            </a: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Subject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Web3 and Decentralized Technologies</a:t>
            </a: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 Link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Click Here </a:t>
            </a: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Live Demo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Click Here</a:t>
            </a:r>
            <a:endParaRPr lang="en-I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5295FA-E07E-22CB-1F87-18197A20E21B}"/>
              </a:ext>
            </a:extLst>
          </p:cNvPr>
          <p:cNvSpPr txBox="1"/>
          <p:nvPr/>
        </p:nvSpPr>
        <p:spPr>
          <a:xfrm>
            <a:off x="457200" y="8238635"/>
            <a:ext cx="74295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Guided By –  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Mr. Abhi Mitra</a:t>
            </a: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Presented By – Manoj Kumar Panigrahi</a:t>
            </a: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Registration Number - 240720100084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F1E0364-3148-9D6F-BE29-2B629F8A5B1F}"/>
              </a:ext>
            </a:extLst>
          </p:cNvPr>
          <p:cNvSpPr/>
          <p:nvPr/>
        </p:nvSpPr>
        <p:spPr>
          <a:xfrm>
            <a:off x="381000" y="342900"/>
            <a:ext cx="17449800" cy="963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A50ACB0-1FE6-7B5B-58A6-42628C1C1BD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952" y="201457"/>
            <a:ext cx="2121475" cy="21214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385C37B-F722-6A16-3CC7-6E3D095A5AB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3719" y="4083878"/>
            <a:ext cx="8688161" cy="476103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0768FEE-701B-F87C-BBC2-08CD493EEDED}"/>
              </a:ext>
            </a:extLst>
          </p:cNvPr>
          <p:cNvSpPr txBox="1"/>
          <p:nvPr/>
        </p:nvSpPr>
        <p:spPr>
          <a:xfrm>
            <a:off x="2362200" y="1409700"/>
            <a:ext cx="132588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400" b="1" i="0" dirty="0">
                <a:solidFill>
                  <a:schemeClr val="tx1">
                    <a:lumMod val="95000"/>
                    <a:lumOff val="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Architecture &amp; Functional Summary of </a:t>
            </a:r>
            <a:r>
              <a:rPr lang="en-US" sz="4400" b="1" i="0" dirty="0" err="1">
                <a:solidFill>
                  <a:schemeClr val="tx1">
                    <a:lumMod val="95000"/>
                    <a:lumOff val="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Auctra</a:t>
            </a:r>
            <a:r>
              <a:rPr lang="en-US" sz="4400" b="1" i="0" dirty="0">
                <a:solidFill>
                  <a:schemeClr val="tx1">
                    <a:lumMod val="95000"/>
                    <a:lumOff val="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i="0" dirty="0" err="1">
                <a:solidFill>
                  <a:schemeClr val="tx1">
                    <a:lumMod val="95000"/>
                    <a:lumOff val="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DApp</a:t>
            </a:r>
            <a:endParaRPr lang="en-IN" sz="4400" dirty="0">
              <a:solidFill>
                <a:schemeClr val="tx1">
                  <a:lumMod val="95000"/>
                  <a:lumOff val="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2DCC60-899F-C1D3-1F3C-E3552677DAC3}"/>
              </a:ext>
            </a:extLst>
          </p:cNvPr>
          <p:cNvSpPr txBox="1"/>
          <p:nvPr/>
        </p:nvSpPr>
        <p:spPr>
          <a:xfrm>
            <a:off x="1371600" y="3619500"/>
            <a:ext cx="14097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IN" sz="32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Fully decentralized, smart-contract driven auction platform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N" sz="32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Role-based access: Admin, Seller, Bidder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N" sz="32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Secure bidding with automatic on-chain refunds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N" sz="32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Each auction deployed as a separate contract (factory pattern)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N" sz="32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Transparent bid history, time-based auction closing, platform fee logic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N" sz="32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Uses IPFS for product media storage (Blockchain + Storage Web3 integration)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N" sz="32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Works without centralized servers, ensuring </a:t>
            </a:r>
            <a:r>
              <a:rPr lang="en-IN" sz="3200" b="0" i="0" dirty="0" err="1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trustless</a:t>
            </a:r>
            <a:r>
              <a:rPr lang="en-IN" sz="32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ownership transfer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78F58A-98FB-B341-5DE0-A1220E242D60}"/>
              </a:ext>
            </a:extLst>
          </p:cNvPr>
          <p:cNvSpPr/>
          <p:nvPr/>
        </p:nvSpPr>
        <p:spPr>
          <a:xfrm>
            <a:off x="381000" y="342900"/>
            <a:ext cx="17449800" cy="963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BD0DFB-9C11-8ADC-583A-F300DB3348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952" y="201457"/>
            <a:ext cx="2121475" cy="21214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92B1CDA-7E61-B606-DB17-5DBBAFCC64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21108" y="563849"/>
            <a:ext cx="101573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1051C0A-19E1-430D-E598-37A2CDA3A528}"/>
              </a:ext>
            </a:extLst>
          </p:cNvPr>
          <p:cNvSpPr txBox="1"/>
          <p:nvPr/>
        </p:nvSpPr>
        <p:spPr>
          <a:xfrm>
            <a:off x="4114800" y="1262194"/>
            <a:ext cx="9144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4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Auctra</a:t>
            </a:r>
            <a:r>
              <a:rPr lang="en-IN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- System Workflow Overview</a:t>
            </a:r>
            <a:endParaRPr lang="en-IN" sz="9600" b="0" i="0" dirty="0">
              <a:solidFill>
                <a:srgbClr val="0D0D0D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E8D40-78DF-EC1D-C601-4C1FB2348A5C}"/>
              </a:ext>
            </a:extLst>
          </p:cNvPr>
          <p:cNvSpPr txBox="1"/>
          <p:nvPr/>
        </p:nvSpPr>
        <p:spPr>
          <a:xfrm>
            <a:off x="685800" y="2256263"/>
            <a:ext cx="17145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This workflow illustrates the end-to-end process of how </a:t>
            </a:r>
            <a:r>
              <a:rPr lang="en-US" sz="2000" b="1" i="0" dirty="0" err="1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Auctra</a:t>
            </a:r>
            <a:r>
              <a:rPr lang="en-US" sz="2000" b="1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operates </a:t>
            </a:r>
            <a:r>
              <a:rPr lang="en-US" sz="2000" b="1" dirty="0">
                <a:solidFill>
                  <a:srgbClr val="0D0D0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sz="2000" b="1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from user registration to auction creation, bidding, winner selection, and fund settlement. Every action is verified and executed through smart contracts, ensuring trustless, transparent, and automated operations on the blockchain.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83D0144-E23E-1440-D48C-47F9505CF5AF}"/>
              </a:ext>
            </a:extLst>
          </p:cNvPr>
          <p:cNvSpPr/>
          <p:nvPr/>
        </p:nvSpPr>
        <p:spPr>
          <a:xfrm>
            <a:off x="381000" y="342900"/>
            <a:ext cx="17449800" cy="963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FC56AD-ED7D-A956-D736-5BB0FEBFEE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952" y="201457"/>
            <a:ext cx="2121475" cy="21214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07B832-593D-9EDC-9E71-06E738D727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21108" y="563849"/>
            <a:ext cx="1015730" cy="16002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7CE40A0B-BBDE-75BC-067C-F140121922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85800" y="3188777"/>
            <a:ext cx="16791422" cy="63185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E9206B4-5806-B9A2-5EBE-71020635823B}"/>
              </a:ext>
            </a:extLst>
          </p:cNvPr>
          <p:cNvSpPr txBox="1"/>
          <p:nvPr/>
        </p:nvSpPr>
        <p:spPr>
          <a:xfrm>
            <a:off x="4686300" y="1018678"/>
            <a:ext cx="89154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IN" sz="4400" b="1" i="0" dirty="0">
                <a:solidFill>
                  <a:srgbClr val="0D0D0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 &amp; Tech Stack</a:t>
            </a:r>
            <a:endParaRPr lang="en-IN" sz="4400" b="0" i="0" dirty="0">
              <a:solidFill>
                <a:srgbClr val="0D0D0D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br>
              <a:rPr lang="en-IN" sz="4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4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5333BD-30CB-87F6-FD0F-5D7983B9C9BB}"/>
              </a:ext>
            </a:extLst>
          </p:cNvPr>
          <p:cNvSpPr txBox="1"/>
          <p:nvPr/>
        </p:nvSpPr>
        <p:spPr>
          <a:xfrm>
            <a:off x="990600" y="2492643"/>
            <a:ext cx="9144000" cy="6555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IN" sz="2800" b="1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Frontend:</a:t>
            </a:r>
            <a:endParaRPr lang="en-IN" sz="2800" b="0" i="0" dirty="0">
              <a:solidFill>
                <a:srgbClr val="0D0D0D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IN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React.js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N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Ethers.js / Web3.js 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N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MetaMask 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N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Bootstrap </a:t>
            </a:r>
          </a:p>
          <a:p>
            <a:pPr algn="l">
              <a:buNone/>
            </a:pPr>
            <a:r>
              <a:rPr lang="en-IN" sz="2800" b="1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Smart Contracts:</a:t>
            </a:r>
            <a:endParaRPr lang="en-IN" sz="2800" b="0" i="0" dirty="0">
              <a:solidFill>
                <a:srgbClr val="0D0D0D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IN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Solidity (</a:t>
            </a:r>
            <a:r>
              <a:rPr lang="en-IN" sz="2800" b="0" i="0" dirty="0" err="1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AuctionFactory</a:t>
            </a:r>
            <a:r>
              <a:rPr lang="en-IN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IN" sz="2800" b="0" i="0" dirty="0" err="1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SimpleAuction</a:t>
            </a:r>
            <a:r>
              <a:rPr lang="en-IN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contracts)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N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2800" b="0" i="0" dirty="0" err="1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OpenZeppelin</a:t>
            </a:r>
            <a:r>
              <a:rPr lang="en-IN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Libraries 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N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Hardhat (Development + Local Testing)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N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2800" b="0" i="0" dirty="0" err="1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Etherscan</a:t>
            </a:r>
            <a:r>
              <a:rPr lang="en-IN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Block Explorer for contract verification</a:t>
            </a:r>
          </a:p>
          <a:p>
            <a:pPr algn="l">
              <a:buNone/>
            </a:pPr>
            <a:r>
              <a:rPr lang="en-IN" sz="2800" b="1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Storage Layer:</a:t>
            </a:r>
            <a:endParaRPr lang="en-IN" sz="2800" b="0" i="0" dirty="0">
              <a:solidFill>
                <a:srgbClr val="0D0D0D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IN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IPFS + Pinata (Auction item images &amp; metadata)</a:t>
            </a:r>
          </a:p>
          <a:p>
            <a:pPr algn="l">
              <a:buNone/>
            </a:pPr>
            <a:r>
              <a:rPr lang="en-IN" sz="2800" b="1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Backend / Indexing (Optional):</a:t>
            </a:r>
            <a:endParaRPr lang="en-IN" sz="2800" b="0" i="0" dirty="0">
              <a:solidFill>
                <a:srgbClr val="0D0D0D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IN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Node.js + Express API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N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MongoDB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14C538-1B59-DEC9-5B91-C0A3039A208C}"/>
              </a:ext>
            </a:extLst>
          </p:cNvPr>
          <p:cNvSpPr/>
          <p:nvPr/>
        </p:nvSpPr>
        <p:spPr>
          <a:xfrm>
            <a:off x="381000" y="342900"/>
            <a:ext cx="17449800" cy="963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1E893D-581D-4C8A-DF92-117A39BCCA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952" y="201457"/>
            <a:ext cx="2121475" cy="21214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8ADB50E-5EFF-2693-4B5A-E1294B7162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21108" y="563849"/>
            <a:ext cx="1015730" cy="16002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F028BB1A-1563-5948-58BA-1FB138F25C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15400" y="2080507"/>
            <a:ext cx="8763000" cy="728102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771660F-182D-F70B-4C1F-8A87CB39AEA4}"/>
              </a:ext>
            </a:extLst>
          </p:cNvPr>
          <p:cNvSpPr txBox="1"/>
          <p:nvPr/>
        </p:nvSpPr>
        <p:spPr>
          <a:xfrm>
            <a:off x="3398751" y="979228"/>
            <a:ext cx="118872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400" b="1" dirty="0">
                <a:solidFill>
                  <a:srgbClr val="0D0D0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Project Feasibility &amp; Implementation Strategy</a:t>
            </a:r>
            <a:endParaRPr lang="en-IN" sz="4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F32216-09CE-E195-B01F-D6128F447F6E}"/>
              </a:ext>
            </a:extLst>
          </p:cNvPr>
          <p:cNvSpPr/>
          <p:nvPr/>
        </p:nvSpPr>
        <p:spPr>
          <a:xfrm>
            <a:off x="381000" y="342900"/>
            <a:ext cx="17449800" cy="963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7DA65E8-C085-CDF1-4C44-7287C1EF33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952" y="201457"/>
            <a:ext cx="2121475" cy="21214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952B6C9-1A26-7717-87A9-94D91F4FA4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21108" y="563849"/>
            <a:ext cx="1015730" cy="16002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3E8FEF5-F4D4-71E4-8B58-A99FD8A32A91}"/>
              </a:ext>
            </a:extLst>
          </p:cNvPr>
          <p:cNvSpPr txBox="1"/>
          <p:nvPr/>
        </p:nvSpPr>
        <p:spPr>
          <a:xfrm>
            <a:off x="609600" y="2164049"/>
            <a:ext cx="11049000" cy="84330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buNone/>
            </a:pPr>
            <a:r>
              <a:rPr lang="en-US" sz="2800" b="1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Technical Feasibility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Uses reliable and widely adopted Web3 stack (Solidity, React, MetaMask, IPFS), ensuring long-term support and integration with existing blockchain tools.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Modular smart contract architecture (</a:t>
            </a:r>
            <a:r>
              <a:rPr lang="en-US" sz="2800" b="0" i="0" dirty="0" err="1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AuctionFactory</a:t>
            </a:r>
            <a:r>
              <a:rPr lang="en-US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en-US" sz="2800" b="0" i="0" dirty="0" err="1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SimpleAuction</a:t>
            </a:r>
            <a:r>
              <a:rPr lang="en-US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enables unlimited auctions and easy upgrades without redeploying the whole system.</a:t>
            </a:r>
            <a:br>
              <a:rPr lang="en-US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b="1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Operational Feasibility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Simple and automated workflow: registration → create/join auction → bid → refund → winner declaration, requiring no backend admin intervention.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Admin controls (pause, cancel, fee update, user verification) make it manageable even for non-technical operators in real environments.</a:t>
            </a:r>
            <a:br>
              <a:rPr lang="en-US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b="1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Economic Feasibility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Low maintenance cost: most logic runs on-chain → no server hosting + only gas fees when users interact.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Built-in revenue model via configurable platform fee (%) deducted automatically from each successful auction, making it self-sustaining.</a:t>
            </a:r>
          </a:p>
          <a:p>
            <a:pPr>
              <a:buNone/>
            </a:pP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268A295-0718-4A2B-86A6-971DF4F1FF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84885" y="3068693"/>
            <a:ext cx="6093515" cy="559378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A100291-C49E-3EF3-D49F-8EF7494FA8A7}"/>
              </a:ext>
            </a:extLst>
          </p:cNvPr>
          <p:cNvSpPr/>
          <p:nvPr/>
        </p:nvSpPr>
        <p:spPr>
          <a:xfrm>
            <a:off x="381000" y="342900"/>
            <a:ext cx="17449800" cy="963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1B5CD3-ACD1-D154-C2A0-FCB1CFA888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952" y="201457"/>
            <a:ext cx="2121475" cy="21214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C314F9D-51A3-A161-BF3E-6D2F4833E6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21108" y="563849"/>
            <a:ext cx="1015730" cy="16002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0C52EFD-8B77-0B52-816E-968DAE92F059}"/>
              </a:ext>
            </a:extLst>
          </p:cNvPr>
          <p:cNvSpPr txBox="1"/>
          <p:nvPr/>
        </p:nvSpPr>
        <p:spPr>
          <a:xfrm>
            <a:off x="4749266" y="1146058"/>
            <a:ext cx="9144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i="0" dirty="0">
                <a:solidFill>
                  <a:srgbClr val="0D0D0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Business Impact and User Benefits</a:t>
            </a:r>
            <a:endParaRPr lang="en-IN" sz="4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E5F24B-A2DB-1269-D47B-1FABB5945E34}"/>
              </a:ext>
            </a:extLst>
          </p:cNvPr>
          <p:cNvSpPr txBox="1"/>
          <p:nvPr/>
        </p:nvSpPr>
        <p:spPr>
          <a:xfrm>
            <a:off x="2373427" y="2386034"/>
            <a:ext cx="1295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IN" sz="2800" b="1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Impact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390C80C-46AD-9C3A-BFBA-07262802F36A}"/>
              </a:ext>
            </a:extLst>
          </p:cNvPr>
          <p:cNvSpPr/>
          <p:nvPr/>
        </p:nvSpPr>
        <p:spPr>
          <a:xfrm>
            <a:off x="609600" y="2979975"/>
            <a:ext cx="5943600" cy="67355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4CA829-CFAF-D40F-66AE-19DEF4A37D9C}"/>
              </a:ext>
            </a:extLst>
          </p:cNvPr>
          <p:cNvSpPr txBox="1"/>
          <p:nvPr/>
        </p:nvSpPr>
        <p:spPr>
          <a:xfrm>
            <a:off x="697027" y="3002835"/>
            <a:ext cx="5943600" cy="7478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+mj-lt"/>
              <a:buAutoNum type="arabicPeriod"/>
            </a:pPr>
            <a:r>
              <a:rPr lang="en-US" sz="2400" b="1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Trust and Transparency in Auctions</a:t>
            </a:r>
            <a:br>
              <a:rPr lang="en-US" sz="24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platform leverages blockchain to ensure every bid, transaction, and auction state is transparent and tamper-proof. This significantly improves trust among participants, especially in high-value or global auctions.</a:t>
            </a:r>
          </a:p>
          <a:p>
            <a:pPr algn="l">
              <a:buFont typeface="+mj-lt"/>
              <a:buAutoNum type="arabicPeriod"/>
            </a:pPr>
            <a:r>
              <a:rPr lang="en-US" sz="2400" b="1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User Ownership and Decentralized Access</a:t>
            </a:r>
            <a:br>
              <a:rPr lang="en-US" sz="24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Users control their interactions through smart contracts, without relying on a central authority. This empowers users, ensures censorship resistance, and allows permissionless auction participation.</a:t>
            </a:r>
          </a:p>
          <a:p>
            <a:pPr algn="l">
              <a:buFont typeface="+mj-lt"/>
              <a:buAutoNum type="arabicPeriod"/>
            </a:pPr>
            <a:r>
              <a:rPr lang="en-US" sz="2400" b="1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Global Reach and Participation</a:t>
            </a:r>
            <a:br>
              <a:rPr lang="en-US" sz="24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Anyone with a crypto wallet can register, create auctions, or place bids, removing geographical barriers found in traditional auction systems.</a:t>
            </a:r>
          </a:p>
          <a:p>
            <a:pPr>
              <a:buNone/>
            </a:pP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61354C4-55E6-D3AF-C566-464FDCA669D5}"/>
              </a:ext>
            </a:extLst>
          </p:cNvPr>
          <p:cNvSpPr/>
          <p:nvPr/>
        </p:nvSpPr>
        <p:spPr>
          <a:xfrm>
            <a:off x="11719560" y="3002835"/>
            <a:ext cx="5943600" cy="67355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DE2151-5F19-CEC1-DD62-3020D417031D}"/>
              </a:ext>
            </a:extLst>
          </p:cNvPr>
          <p:cNvSpPr txBox="1"/>
          <p:nvPr/>
        </p:nvSpPr>
        <p:spPr>
          <a:xfrm>
            <a:off x="11882721" y="3041145"/>
            <a:ext cx="5617278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+mj-lt"/>
              <a:buAutoNum type="arabicPeriod"/>
            </a:pPr>
            <a:r>
              <a:rPr lang="en-US" sz="2400" b="1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Cost-Efficiency for Sellers and Bidders</a:t>
            </a:r>
            <a:br>
              <a:rPr lang="en-US" sz="24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system minimizes middleman fees and delays, ensuring both sellers and bidders save money and time during auction processes.</a:t>
            </a:r>
          </a:p>
          <a:p>
            <a:pPr algn="l">
              <a:buFont typeface="+mj-lt"/>
              <a:buAutoNum type="arabicPeriod"/>
            </a:pPr>
            <a:r>
              <a:rPr lang="en-US" sz="2400" b="1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 Integrity and Security</a:t>
            </a:r>
            <a:br>
              <a:rPr lang="en-US" sz="24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All actions are stored on the blockchain, making them immutable and publicly verifiable. This protects users against fraud and data manipulation.</a:t>
            </a:r>
          </a:p>
          <a:p>
            <a:pPr algn="l">
              <a:buFont typeface="+mj-lt"/>
              <a:buAutoNum type="arabicPeriod"/>
            </a:pPr>
            <a:r>
              <a:rPr lang="en-US" sz="2400" b="1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Flexible for Future Integrations</a:t>
            </a:r>
            <a:br>
              <a:rPr lang="en-US" sz="24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architecture is modular and smart contract-based, allowing developers to add new features like multi-chain support, reward systems, or AI-powered bidding in future iterations.</a:t>
            </a:r>
          </a:p>
          <a:p>
            <a:pPr>
              <a:buNone/>
            </a:pP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E511733-5ED5-3D0C-4DDA-58C8C12C0174}"/>
              </a:ext>
            </a:extLst>
          </p:cNvPr>
          <p:cNvSpPr txBox="1"/>
          <p:nvPr/>
        </p:nvSpPr>
        <p:spPr>
          <a:xfrm rot="10800000" flipV="1">
            <a:off x="14173200" y="2396446"/>
            <a:ext cx="3048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IN" sz="2800" b="1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Benefits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CD9FDC7-02FA-0025-8DBA-34DC8E1094BD}"/>
              </a:ext>
            </a:extLst>
          </p:cNvPr>
          <p:cNvSpPr txBox="1"/>
          <p:nvPr/>
        </p:nvSpPr>
        <p:spPr>
          <a:xfrm>
            <a:off x="7543800" y="2334892"/>
            <a:ext cx="355493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IN" sz="3200" b="1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Business Impact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AA652C0-C0C3-AC51-1F86-D5A11DCD842C}"/>
              </a:ext>
            </a:extLst>
          </p:cNvPr>
          <p:cNvSpPr/>
          <p:nvPr/>
        </p:nvSpPr>
        <p:spPr>
          <a:xfrm>
            <a:off x="6640627" y="2979975"/>
            <a:ext cx="4991506" cy="675838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31E52AA-9E1F-0500-D374-A05090204B2F}"/>
              </a:ext>
            </a:extLst>
          </p:cNvPr>
          <p:cNvSpPr txBox="1"/>
          <p:nvPr/>
        </p:nvSpPr>
        <p:spPr>
          <a:xfrm>
            <a:off x="6869226" y="2979975"/>
            <a:ext cx="4519533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sz="2400" b="1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Reduced Operational Costs</a:t>
            </a:r>
            <a:br>
              <a:rPr lang="en-US" sz="24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Eliminates the need for expensive centralized servers, manual verification processes, and third-party payment processors.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1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Scalable Revenue Opportunities</a:t>
            </a:r>
            <a:br>
              <a:rPr lang="en-US" sz="24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platform can earn through service fees, premium auction options, and integration of new features like NFT-based auctions.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1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Automated Fraud Prevention</a:t>
            </a:r>
            <a:br>
              <a:rPr lang="en-US" sz="24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Smart contracts enforce rules and safeguards, reducing the need for manual dispute resolutions and customer support.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2F12C9E-01AB-E882-445A-B9C7F7DC8D70}"/>
              </a:ext>
            </a:extLst>
          </p:cNvPr>
          <p:cNvSpPr/>
          <p:nvPr/>
        </p:nvSpPr>
        <p:spPr>
          <a:xfrm>
            <a:off x="381000" y="342900"/>
            <a:ext cx="17449800" cy="963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08CD5E-A3D3-F710-2991-6594D11570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952" y="201457"/>
            <a:ext cx="2121475" cy="21214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A23312D-400D-A224-80AA-08F9553025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21108" y="563849"/>
            <a:ext cx="1015730" cy="16002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C4AACA8-3A66-3801-BF7B-EE42BAE1487F}"/>
              </a:ext>
            </a:extLst>
          </p:cNvPr>
          <p:cNvSpPr txBox="1"/>
          <p:nvPr/>
        </p:nvSpPr>
        <p:spPr>
          <a:xfrm>
            <a:off x="3784667" y="1262194"/>
            <a:ext cx="111252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400" b="1" i="0" dirty="0">
                <a:solidFill>
                  <a:srgbClr val="0D0D0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Makes </a:t>
            </a:r>
            <a:r>
              <a:rPr lang="en-IN" sz="4400" b="1" i="0" dirty="0" err="1">
                <a:solidFill>
                  <a:srgbClr val="0D0D0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Auctra</a:t>
            </a:r>
            <a:r>
              <a:rPr lang="en-IN" sz="4400" b="1" i="0" dirty="0">
                <a:solidFill>
                  <a:srgbClr val="0D0D0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Unique &amp; Future Scope</a:t>
            </a:r>
            <a:endParaRPr lang="en-IN" sz="4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9E1346-84FF-E8F6-AAA9-D3DA8C1B6F39}"/>
              </a:ext>
            </a:extLst>
          </p:cNvPr>
          <p:cNvSpPr txBox="1"/>
          <p:nvPr/>
        </p:nvSpPr>
        <p:spPr>
          <a:xfrm>
            <a:off x="1630680" y="2155261"/>
            <a:ext cx="494898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IN" sz="2800" b="1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What Makes </a:t>
            </a:r>
            <a:r>
              <a:rPr lang="en-IN" sz="2800" b="1" i="0" dirty="0" err="1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Auctra</a:t>
            </a:r>
            <a:r>
              <a:rPr lang="en-IN" sz="2800" b="1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Unique?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038D55-895D-92F3-3644-BB0E1EF08757}"/>
              </a:ext>
            </a:extLst>
          </p:cNvPr>
          <p:cNvSpPr txBox="1"/>
          <p:nvPr/>
        </p:nvSpPr>
        <p:spPr>
          <a:xfrm>
            <a:off x="12257861" y="2173047"/>
            <a:ext cx="2895600" cy="1423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IN" sz="2800" b="1" i="0" dirty="0">
                <a:solidFill>
                  <a:srgbClr val="0D0D0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Future Scope</a:t>
            </a:r>
          </a:p>
          <a:p>
            <a:pPr>
              <a:buNone/>
            </a:pPr>
            <a:br>
              <a:rPr lang="en-IN" sz="2800" b="1" i="0" dirty="0">
                <a:solidFill>
                  <a:srgbClr val="0D0D0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B9E2B5F-E639-CE53-8A31-CD1465019D9D}"/>
              </a:ext>
            </a:extLst>
          </p:cNvPr>
          <p:cNvSpPr/>
          <p:nvPr/>
        </p:nvSpPr>
        <p:spPr>
          <a:xfrm>
            <a:off x="685800" y="2884780"/>
            <a:ext cx="7772400" cy="65259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BA3214-441C-189C-F5F5-C01EA4D0233F}"/>
              </a:ext>
            </a:extLst>
          </p:cNvPr>
          <p:cNvSpPr txBox="1"/>
          <p:nvPr/>
        </p:nvSpPr>
        <p:spPr>
          <a:xfrm>
            <a:off x="990600" y="3085985"/>
            <a:ext cx="7254239" cy="6247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sz="2500" b="1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Fully Decentralized &amp; Transparent Auctions</a:t>
            </a:r>
            <a:br>
              <a:rPr lang="en-US" sz="25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 centralized authority controls bidding or fund transfers — all actions are recorded on-chain for verifiable transparency.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500" b="1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Smart-Contract-Based Escrow &amp; Refund System</a:t>
            </a:r>
            <a:br>
              <a:rPr lang="en-US" sz="25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Funds are securely held by the contract until the auction ends, ensuring fair handling and automatic refunds to non-winning bidders.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500" b="1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User Verification + Role-Based Access</a:t>
            </a:r>
            <a:br>
              <a:rPr lang="en-US" sz="25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Only admin-approved users can create auctions or bid, making the platform resistant to fraud and misuse while maintaining decentralization.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500" b="1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IPFS-Powered Product Storage</a:t>
            </a:r>
            <a:br>
              <a:rPr lang="en-US" sz="25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Auction items are stored via decentralized storage (IPFS), ensuring no data loss and tamper-proof product metadata.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A3D3F5B-123F-AA14-499E-5B7218F089F4}"/>
              </a:ext>
            </a:extLst>
          </p:cNvPr>
          <p:cNvSpPr/>
          <p:nvPr/>
        </p:nvSpPr>
        <p:spPr>
          <a:xfrm>
            <a:off x="9525000" y="2946957"/>
            <a:ext cx="7772400" cy="65259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E6403D-3C43-B34F-AE0F-351E3B5D3555}"/>
              </a:ext>
            </a:extLst>
          </p:cNvPr>
          <p:cNvSpPr txBox="1"/>
          <p:nvPr/>
        </p:nvSpPr>
        <p:spPr>
          <a:xfrm>
            <a:off x="10004567" y="3161662"/>
            <a:ext cx="7262353" cy="5863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sz="2500" b="1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Cross-Chain Auction Support</a:t>
            </a:r>
            <a:br>
              <a:rPr lang="en-US" sz="25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Integrate multi-chain deployment (e.g., Polygon, Solana) to expand user reach and reduce gas costs.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500" b="1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AI-Based Bid Prediction &amp; Auction Analytics</a:t>
            </a:r>
            <a:br>
              <a:rPr lang="en-US" sz="25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Enable bidders and sellers with real-time insights, price predictions, and bidding trends.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500" b="1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Integration with Web3 Identity (DID) &amp; Tokenized Payments</a:t>
            </a:r>
            <a:br>
              <a:rPr lang="en-US" sz="25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Allow users to log in using decentralized identity and enable bidding with multiple tokens, not just native crypto.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500" b="1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Mobile App + Push Notifications</a:t>
            </a:r>
            <a:br>
              <a:rPr lang="en-US" sz="25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Launch a full-featured mobile app with real-time bid status alerts and wallet integration for broader accessibility.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306F3D-3073-712B-BB3E-4B500872B39C}"/>
              </a:ext>
            </a:extLst>
          </p:cNvPr>
          <p:cNvSpPr/>
          <p:nvPr/>
        </p:nvSpPr>
        <p:spPr>
          <a:xfrm>
            <a:off x="381000" y="342900"/>
            <a:ext cx="17449800" cy="963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89A3E23-7997-5506-EB65-5E5DBBBD77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9828" y="1714500"/>
            <a:ext cx="11608343" cy="579596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</TotalTime>
  <Words>909</Words>
  <Application>Microsoft Office PowerPoint</Application>
  <PresentationFormat>Custom</PresentationFormat>
  <Paragraphs>67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Times New Roman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Simple Geometric Project Presentation</dc:title>
  <cp:lastModifiedBy>MANOJ ..</cp:lastModifiedBy>
  <cp:revision>11</cp:revision>
  <dcterms:created xsi:type="dcterms:W3CDTF">2006-08-16T00:00:00Z</dcterms:created>
  <dcterms:modified xsi:type="dcterms:W3CDTF">2025-11-08T16:43:23Z</dcterms:modified>
  <dc:identifier>DAG2f6Hlb1c</dc:identifier>
</cp:coreProperties>
</file>