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xtman0z/AUCT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EB8AEA-EA83-5F9F-85AC-57C1E7A94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DCEE8-84A0-B2D1-E55C-C79EFABFDB29}"/>
              </a:ext>
            </a:extLst>
          </p:cNvPr>
          <p:cNvSpPr txBox="1"/>
          <p:nvPr/>
        </p:nvSpPr>
        <p:spPr>
          <a:xfrm>
            <a:off x="4648200" y="1019770"/>
            <a:ext cx="990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Auction Platform</a:t>
            </a:r>
            <a:endParaRPr lang="en-I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A4C73-952B-F062-2A90-923CF40DCAEA}"/>
              </a:ext>
            </a:extLst>
          </p:cNvPr>
          <p:cNvSpPr txBox="1"/>
          <p:nvPr/>
        </p:nvSpPr>
        <p:spPr>
          <a:xfrm>
            <a:off x="6172200" y="1963994"/>
            <a:ext cx="670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Transparent, Automated, and Secure Bidding Ecosystem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92700-CDA3-E288-0B53-E8C8744C9A7B}"/>
              </a:ext>
            </a:extLst>
          </p:cNvPr>
          <p:cNvSpPr txBox="1"/>
          <p:nvPr/>
        </p:nvSpPr>
        <p:spPr>
          <a:xfrm>
            <a:off x="457200" y="4302965"/>
            <a:ext cx="11125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TriChain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Web3 and Decentralized Technologies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Click Here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Click Here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295FA-E07E-22CB-1F87-18197A20E21B}"/>
              </a:ext>
            </a:extLst>
          </p:cNvPr>
          <p:cNvSpPr txBox="1"/>
          <p:nvPr/>
        </p:nvSpPr>
        <p:spPr>
          <a:xfrm>
            <a:off x="457200" y="8238635"/>
            <a:ext cx="7429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 Mitra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Manoj Kumar Panigrahi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 - 240720100084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E0364-3148-9D6F-BE29-2B629F8A5B1F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50ACB0-1FE6-7B5B-58A6-42628C1C1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85C37B-F722-6A16-3CC7-6E3D095A5A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719" y="4083878"/>
            <a:ext cx="8688161" cy="47610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768FEE-701B-F87C-BBC2-08CD493EEDED}"/>
              </a:ext>
            </a:extLst>
          </p:cNvPr>
          <p:cNvSpPr txBox="1"/>
          <p:nvPr/>
        </p:nvSpPr>
        <p:spPr>
          <a:xfrm>
            <a:off x="2362200" y="1409700"/>
            <a:ext cx="13258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i="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Functional Summary of </a:t>
            </a:r>
            <a:r>
              <a:rPr lang="en-US" sz="44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Auctra</a:t>
            </a:r>
            <a:r>
              <a:rPr lang="en-US" sz="4400" b="1" i="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DApp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DCC60-899F-C1D3-1F3C-E3552677DAC3}"/>
              </a:ext>
            </a:extLst>
          </p:cNvPr>
          <p:cNvSpPr txBox="1"/>
          <p:nvPr/>
        </p:nvSpPr>
        <p:spPr>
          <a:xfrm>
            <a:off x="1371600" y="3619500"/>
            <a:ext cx="14097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Fully decentralized, smart-contract driven auction platform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Role-based access: Admin, Seller, Bidder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Secure bidding with automatic on-chain refunds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 auction deployed as a separate contract (factory pattern)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Transparent bid history, time-based auction closing, platform fee logic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Uses IPFS for product media storage (Blockchain + Storage Web3 integration)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Works without centralized servers, ensuring </a:t>
            </a:r>
            <a:r>
              <a:rPr lang="en-IN" sz="32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trustless</a:t>
            </a:r>
            <a:r>
              <a:rPr lang="en-IN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ownership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8F58A-98FB-B341-5DE0-A1220E242D60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D0DFB-9C11-8ADC-583A-F300DB334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2B1CDA-7E61-B606-DB17-5DBBAFCC6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051C0A-19E1-430D-E598-37A2CDA3A528}"/>
              </a:ext>
            </a:extLst>
          </p:cNvPr>
          <p:cNvSpPr txBox="1"/>
          <p:nvPr/>
        </p:nvSpPr>
        <p:spPr>
          <a:xfrm>
            <a:off x="4114800" y="1262194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Auctra</a:t>
            </a:r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- System Workflow Overview</a:t>
            </a:r>
            <a:endParaRPr lang="en-IN" sz="9600" b="0" i="0" dirty="0">
              <a:solidFill>
                <a:srgbClr val="0D0D0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E8D40-78DF-EC1D-C601-4C1FB2348A5C}"/>
              </a:ext>
            </a:extLst>
          </p:cNvPr>
          <p:cNvSpPr txBox="1"/>
          <p:nvPr/>
        </p:nvSpPr>
        <p:spPr>
          <a:xfrm>
            <a:off x="685800" y="2256263"/>
            <a:ext cx="17145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workflow illustrates the end-to-end process of how </a:t>
            </a:r>
            <a:r>
              <a:rPr lang="en-US" sz="2000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Auctra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operates </a:t>
            </a:r>
            <a:r>
              <a:rPr lang="en-US" sz="2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user registration to auction creation, bidding, winner selection, and fund settlement. Every action is verified and executed through smart contracts, ensuring trustless, transparent, and automated operations on the blockchain.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3D0144-E23E-1440-D48C-47F9505CF5AF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C56AD-ED7D-A956-D736-5BB0FEBFE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07B832-593D-9EDC-9E71-06E738D72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CE40A0B-BBDE-75BC-067C-F14012192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3188777"/>
            <a:ext cx="16791422" cy="63185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9206B4-5806-B9A2-5EBE-71020635823B}"/>
              </a:ext>
            </a:extLst>
          </p:cNvPr>
          <p:cNvSpPr txBox="1"/>
          <p:nvPr/>
        </p:nvSpPr>
        <p:spPr>
          <a:xfrm>
            <a:off x="4686300" y="1018678"/>
            <a:ext cx="8915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4400" b="1" i="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Tech Stack</a:t>
            </a:r>
            <a:endParaRPr lang="en-IN" sz="4400" b="0" i="0" dirty="0">
              <a:solidFill>
                <a:srgbClr val="0D0D0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333BD-30CB-87F6-FD0F-5D7983B9C9BB}"/>
              </a:ext>
            </a:extLst>
          </p:cNvPr>
          <p:cNvSpPr txBox="1"/>
          <p:nvPr/>
        </p:nvSpPr>
        <p:spPr>
          <a:xfrm>
            <a:off x="990600" y="2492643"/>
            <a:ext cx="9144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React.js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Ethers.js / Web3.js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MetaMask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Bootstrap </a:t>
            </a:r>
          </a:p>
          <a:p>
            <a:pPr algn="l"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Contracts:</a:t>
            </a:r>
            <a:endParaRPr lang="en-IN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Solidity (</a:t>
            </a:r>
            <a:r>
              <a:rPr lang="en-IN" sz="2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AuctionFactory</a:t>
            </a: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2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SimpleAuction</a:t>
            </a: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contracts)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OpenZeppelin</a:t>
            </a: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Libraries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Hardhat (Development + Local Testing)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Etherscan</a:t>
            </a: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Block Explorer for contract verification</a:t>
            </a:r>
          </a:p>
          <a:p>
            <a:pPr algn="l"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 Layer:</a:t>
            </a:r>
            <a:endParaRPr lang="en-IN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IPFS + Pinata (Auction item images &amp; metadata)</a:t>
            </a:r>
          </a:p>
          <a:p>
            <a:pPr algn="l"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/ Indexing (Optional):</a:t>
            </a:r>
            <a:endParaRPr lang="en-IN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4C538-1B59-DEC9-5B91-C0A3039A208C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1E893D-581D-4C8A-DF92-117A39BCC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ADB50E-5EFF-2693-4B5A-E1294B716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028BB1A-1563-5948-58BA-1FB138F25C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5400" y="2080507"/>
            <a:ext cx="8763000" cy="7281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71660F-182D-F70B-4C1F-8A87CB39AEA4}"/>
              </a:ext>
            </a:extLst>
          </p:cNvPr>
          <p:cNvSpPr txBox="1"/>
          <p:nvPr/>
        </p:nvSpPr>
        <p:spPr>
          <a:xfrm>
            <a:off x="3398751" y="979228"/>
            <a:ext cx="11887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Feasibility &amp; Implementation Strategy</a:t>
            </a:r>
            <a:endParaRPr lang="en-I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32216-09CE-E195-B01F-D6128F447F6E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A65E8-C085-CDF1-4C44-7287C1EF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52B6C9-1A26-7717-87A9-94D91F4FA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E8FEF5-F4D4-71E4-8B58-A99FD8A32A91}"/>
              </a:ext>
            </a:extLst>
          </p:cNvPr>
          <p:cNvSpPr txBox="1"/>
          <p:nvPr/>
        </p:nvSpPr>
        <p:spPr>
          <a:xfrm>
            <a:off x="609600" y="2164049"/>
            <a:ext cx="11049000" cy="8433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reliable and widely adopted Web3 stack (Solidity, React, MetaMask, IPFS), ensuring long-term support and integration with existing blockchain tools.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smart contract architecture (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AuctionFactory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SimpleAuction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enables unlimited auctions and easy upgrades without redeploying the whole system.</a:t>
            </a:r>
            <a:b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automated workflow: registration → create/join auction → bid → refund → winner declaration, requiring no backend admin intervention.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controls (pause, cancel, fee update, user verification) make it manageable even for non-technical operators in real environments.</a:t>
            </a:r>
            <a:b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maintenance cost: most logic runs on-chain → no server hosting + only gas fees when users interact.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Built-in revenue model via configurable platform fee (%) deducted automatically from each successful auction, making it self-sustaining.</a:t>
            </a:r>
          </a:p>
          <a:p>
            <a:pPr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68A295-0718-4A2B-86A6-971DF4F1F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4885" y="3068693"/>
            <a:ext cx="6093515" cy="55937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100291-C49E-3EF3-D49F-8EF7494FA8A7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B5CD3-ACD1-D154-C2A0-FCB1CFA88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314F9D-51A3-A161-BF3E-6D2F4833E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C52EFD-8B77-0B52-816E-968DAE92F059}"/>
              </a:ext>
            </a:extLst>
          </p:cNvPr>
          <p:cNvSpPr txBox="1"/>
          <p:nvPr/>
        </p:nvSpPr>
        <p:spPr>
          <a:xfrm>
            <a:off x="4749266" y="1146058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and User Benefits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5F24B-A2DB-1269-D47B-1FABB5945E34}"/>
              </a:ext>
            </a:extLst>
          </p:cNvPr>
          <p:cNvSpPr txBox="1"/>
          <p:nvPr/>
        </p:nvSpPr>
        <p:spPr>
          <a:xfrm>
            <a:off x="2373427" y="2386034"/>
            <a:ext cx="129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0C80C-46AD-9C3A-BFBA-07262802F36A}"/>
              </a:ext>
            </a:extLst>
          </p:cNvPr>
          <p:cNvSpPr/>
          <p:nvPr/>
        </p:nvSpPr>
        <p:spPr>
          <a:xfrm>
            <a:off x="609600" y="2979975"/>
            <a:ext cx="5943600" cy="6735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CA829-CFAF-D40F-66AE-19DEF4A37D9C}"/>
              </a:ext>
            </a:extLst>
          </p:cNvPr>
          <p:cNvSpPr txBox="1"/>
          <p:nvPr/>
        </p:nvSpPr>
        <p:spPr>
          <a:xfrm>
            <a:off x="697027" y="3002835"/>
            <a:ext cx="59436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Trust and Transparency in Auctions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leverages blockchain to ensure every bid, transaction, and auction state is transparent and tamper-proof. This significantly improves trust among participants, especially in high-value or global auctions.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Ownership and Decentralized Access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control their interactions through smart contracts, without relying on a central authority. This empowers users, ensures censorship resistance, and allows permissionless auction participation.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Reach and Participation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Anyone with a crypto wallet can register, create auctions, or place bids, removing geographical barriers found in traditional auction systems.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1354C4-55E6-D3AF-C566-464FDCA669D5}"/>
              </a:ext>
            </a:extLst>
          </p:cNvPr>
          <p:cNvSpPr/>
          <p:nvPr/>
        </p:nvSpPr>
        <p:spPr>
          <a:xfrm>
            <a:off x="11719560" y="3002835"/>
            <a:ext cx="5943600" cy="6735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E2151-5F19-CEC1-DD62-3020D417031D}"/>
              </a:ext>
            </a:extLst>
          </p:cNvPr>
          <p:cNvSpPr txBox="1"/>
          <p:nvPr/>
        </p:nvSpPr>
        <p:spPr>
          <a:xfrm>
            <a:off x="11882721" y="3041145"/>
            <a:ext cx="561727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Cost-Efficiency for Sellers and Bidders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minimizes middleman fees and delays, ensuring both sellers and bidders save money and time during auction processes.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and Security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actions are stored on the blockchain, making them immutable and publicly verifiable. This protects users against fraud and data manipulation.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 for Future Integrations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is modular and smart contract-based, allowing developers to add new features like multi-chain support, reward systems, or AI-powered bidding in future iterations.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511733-5ED5-3D0C-4DDA-58C8C12C0174}"/>
              </a:ext>
            </a:extLst>
          </p:cNvPr>
          <p:cNvSpPr txBox="1"/>
          <p:nvPr/>
        </p:nvSpPr>
        <p:spPr>
          <a:xfrm rot="10800000" flipV="1">
            <a:off x="14173200" y="2396446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D9FDC7-02FA-0025-8DBA-34DC8E1094BD}"/>
              </a:ext>
            </a:extLst>
          </p:cNvPr>
          <p:cNvSpPr txBox="1"/>
          <p:nvPr/>
        </p:nvSpPr>
        <p:spPr>
          <a:xfrm>
            <a:off x="7543800" y="2334892"/>
            <a:ext cx="3554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A652C0-C0C3-AC51-1F86-D5A11DCD842C}"/>
              </a:ext>
            </a:extLst>
          </p:cNvPr>
          <p:cNvSpPr/>
          <p:nvPr/>
        </p:nvSpPr>
        <p:spPr>
          <a:xfrm>
            <a:off x="6640627" y="2979975"/>
            <a:ext cx="4991506" cy="6758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1E52AA-9E1F-0500-D374-A05090204B2F}"/>
              </a:ext>
            </a:extLst>
          </p:cNvPr>
          <p:cNvSpPr txBox="1"/>
          <p:nvPr/>
        </p:nvSpPr>
        <p:spPr>
          <a:xfrm>
            <a:off x="6869226" y="2979975"/>
            <a:ext cx="45195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Operational Costs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need for expensive centralized servers, manual verification processes, and third-party payment processors.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Revenue Opportunities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earn through service fees, premium auction options, and integration of new features like NFT-based auctions.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Fraud Prevention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enforce rules and safeguards, reducing the need for manual dispute resolutions and customer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F12C9E-01AB-E882-445A-B9C7F7DC8D70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8CD5E-A3D3-F710-2991-6594D1157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201457"/>
            <a:ext cx="2121475" cy="212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23312D-400D-A224-80AA-08F955302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108" y="563849"/>
            <a:ext cx="101573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4AACA8-3A66-3801-BF7B-EE42BAE1487F}"/>
              </a:ext>
            </a:extLst>
          </p:cNvPr>
          <p:cNvSpPr txBox="1"/>
          <p:nvPr/>
        </p:nvSpPr>
        <p:spPr>
          <a:xfrm>
            <a:off x="3784667" y="1262194"/>
            <a:ext cx="1112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i="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Makes </a:t>
            </a:r>
            <a:r>
              <a:rPr lang="en-IN" sz="4400" b="1" i="0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Auctra</a:t>
            </a:r>
            <a:r>
              <a:rPr lang="en-IN" sz="4400" b="1" i="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Unique &amp; Future Scope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E1346-84FF-E8F6-AAA9-D3DA8C1B6F39}"/>
              </a:ext>
            </a:extLst>
          </p:cNvPr>
          <p:cNvSpPr txBox="1"/>
          <p:nvPr/>
        </p:nvSpPr>
        <p:spPr>
          <a:xfrm>
            <a:off x="1630680" y="2155261"/>
            <a:ext cx="4948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What Makes </a:t>
            </a:r>
            <a:r>
              <a:rPr lang="en-IN" sz="2800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Auctra</a:t>
            </a: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Unique?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38D55-895D-92F3-3644-BB0E1EF08757}"/>
              </a:ext>
            </a:extLst>
          </p:cNvPr>
          <p:cNvSpPr txBox="1"/>
          <p:nvPr/>
        </p:nvSpPr>
        <p:spPr>
          <a:xfrm>
            <a:off x="12257861" y="2173047"/>
            <a:ext cx="28956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2800" b="1" i="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Future Scope</a:t>
            </a:r>
          </a:p>
          <a:p>
            <a:pPr>
              <a:buNone/>
            </a:pPr>
            <a:br>
              <a:rPr lang="en-IN" sz="2800" b="1" i="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9E2B5F-E639-CE53-8A31-CD1465019D9D}"/>
              </a:ext>
            </a:extLst>
          </p:cNvPr>
          <p:cNvSpPr/>
          <p:nvPr/>
        </p:nvSpPr>
        <p:spPr>
          <a:xfrm>
            <a:off x="685800" y="2884780"/>
            <a:ext cx="7772400" cy="6525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BA3214-441C-189C-F5F5-C01EA4D0233F}"/>
              </a:ext>
            </a:extLst>
          </p:cNvPr>
          <p:cNvSpPr txBox="1"/>
          <p:nvPr/>
        </p:nvSpPr>
        <p:spPr>
          <a:xfrm>
            <a:off x="990600" y="3085985"/>
            <a:ext cx="725423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Decentralized &amp; Transparent Auctions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authority controls bidding or fund transfers — all actions are recorded on-chain for verifiable transparency.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Smart-Contract-Based Escrow &amp; Refund System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Funds are securely held by the contract until the auction ends, ensuring fair handling and automatic refunds to non-winning bidders.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Verification + Role-Based Access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admin-approved users can create auctions or bid, making the platform resistant to fraud and misuse while maintaining decentralization.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IPFS-Powered Product Storage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Auction items are stored via decentralized storage (IPFS), ensuring no data loss and tamper-proof product metadata.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3D3F5B-123F-AA14-499E-5B7218F089F4}"/>
              </a:ext>
            </a:extLst>
          </p:cNvPr>
          <p:cNvSpPr/>
          <p:nvPr/>
        </p:nvSpPr>
        <p:spPr>
          <a:xfrm>
            <a:off x="9525000" y="2946957"/>
            <a:ext cx="7772400" cy="6525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E6403D-3C43-B34F-AE0F-351E3B5D3555}"/>
              </a:ext>
            </a:extLst>
          </p:cNvPr>
          <p:cNvSpPr txBox="1"/>
          <p:nvPr/>
        </p:nvSpPr>
        <p:spPr>
          <a:xfrm>
            <a:off x="10004567" y="3161662"/>
            <a:ext cx="7262353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Cross-Chain Auction Support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multi-chain deployment (e.g., Polygon, Solana) to expand user reach and reduce gas costs.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Bid Prediction &amp; Auction Analytics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bidders and sellers with real-time insights, price predictions, and bidding trends.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Web3 Identity (DID) &amp; Tokenized Payments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log in using decentralized identity and enable bidding with multiple tokens, not just native crypto.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+ Push Notifications</a:t>
            </a:r>
            <a:b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 a full-featured mobile app with real-time bid status alerts and wallet integration for broader accessibility.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306F3D-3073-712B-BB3E-4B500872B39C}"/>
              </a:ext>
            </a:extLst>
          </p:cNvPr>
          <p:cNvSpPr/>
          <p:nvPr/>
        </p:nvSpPr>
        <p:spPr>
          <a:xfrm>
            <a:off x="381000" y="342900"/>
            <a:ext cx="17449800" cy="963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9A3E23-7997-5506-EB65-5E5DBBBD7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828" y="1714500"/>
            <a:ext cx="11608343" cy="57959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909</Words>
  <Application>Microsoft Office PowerPoint</Application>
  <PresentationFormat>Custom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cp:lastModifiedBy>MANOJ ..</cp:lastModifiedBy>
  <cp:revision>10</cp:revision>
  <dcterms:created xsi:type="dcterms:W3CDTF">2006-08-16T00:00:00Z</dcterms:created>
  <dcterms:modified xsi:type="dcterms:W3CDTF">2025-11-05T18:18:41Z</dcterms:modified>
  <dc:identifier>DAG2f6Hlb1c</dc:identifier>
</cp:coreProperties>
</file>